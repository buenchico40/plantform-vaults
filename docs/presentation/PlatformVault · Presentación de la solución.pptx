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Olmedo" userId="ba8bdf76-5d03-4303-bcba-5e11ab18b1f3" providerId="ADAL" clId="{E20CB0E0-1F85-4975-9E8E-778D0DC96092}"/>
    <pc:docChg chg="custSel mod addSld delSld modSld modMainMaster">
      <pc:chgData name="Andres Olmedo" userId="ba8bdf76-5d03-4303-bcba-5e11ab18b1f3" providerId="ADAL" clId="{E20CB0E0-1F85-4975-9E8E-778D0DC96092}" dt="2026-09-26T12:38:59.600" v="46" actId="1076"/>
      <pc:docMkLst>
        <pc:docMk/>
      </pc:docMkLst>
      <pc:sldChg chg="new del">
        <pc:chgData name="Andres Olmedo" userId="ba8bdf76-5d03-4303-bcba-5e11ab18b1f3" providerId="ADAL" clId="{E20CB0E0-1F85-4975-9E8E-778D0DC96092}" dt="2026-09-26T12:38:00.944" v="4" actId="47"/>
        <pc:sldMkLst>
          <pc:docMk/>
          <pc:sldMk cId="3202235490" sldId="270"/>
        </pc:sldMkLst>
      </pc:sldChg>
      <pc:sldChg chg="delSp modSp add mod">
        <pc:chgData name="Andres Olmedo" userId="ba8bdf76-5d03-4303-bcba-5e11ab18b1f3" providerId="ADAL" clId="{E20CB0E0-1F85-4975-9E8E-778D0DC96092}" dt="2026-09-26T12:38:59.600" v="46" actId="1076"/>
        <pc:sldMkLst>
          <pc:docMk/>
          <pc:sldMk cId="2242091415" sldId="271"/>
        </pc:sldMkLst>
        <pc:spChg chg="mod">
          <ac:chgData name="Andres Olmedo" userId="ba8bdf76-5d03-4303-bcba-5e11ab18b1f3" providerId="ADAL" clId="{E20CB0E0-1F85-4975-9E8E-778D0DC96092}" dt="2026-09-26T12:38:21.936" v="24" actId="20577"/>
          <ac:spMkLst>
            <pc:docMk/>
            <pc:sldMk cId="2242091415" sldId="271"/>
            <ac:spMk id="2" creationId="{EDBE8FF6-93D7-2CE2-9F50-436CDDC6C59F}"/>
          </ac:spMkLst>
        </pc:spChg>
        <pc:spChg chg="mod">
          <ac:chgData name="Andres Olmedo" userId="ba8bdf76-5d03-4303-bcba-5e11ab18b1f3" providerId="ADAL" clId="{E20CB0E0-1F85-4975-9E8E-778D0DC96092}" dt="2026-09-26T12:38:59.600" v="46" actId="1076"/>
          <ac:spMkLst>
            <pc:docMk/>
            <pc:sldMk cId="2242091415" sldId="271"/>
            <ac:spMk id="3" creationId="{E6B27DBF-848C-99DC-0408-4A3C8C5D6939}"/>
          </ac:spMkLst>
        </pc:spChg>
        <pc:spChg chg="del">
          <ac:chgData name="Andres Olmedo" userId="ba8bdf76-5d03-4303-bcba-5e11ab18b1f3" providerId="ADAL" clId="{E20CB0E0-1F85-4975-9E8E-778D0DC96092}" dt="2026-09-26T12:38:04.340" v="5" actId="478"/>
          <ac:spMkLst>
            <pc:docMk/>
            <pc:sldMk cId="2242091415" sldId="271"/>
            <ac:spMk id="4" creationId="{21D52079-870B-FC56-F0D1-295F517DBE1B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5" creationId="{FCC73575-75C8-9D06-FA46-6B24F375600C}"/>
          </ac:spMkLst>
        </pc:spChg>
        <pc:spChg chg="del">
          <ac:chgData name="Andres Olmedo" userId="ba8bdf76-5d03-4303-bcba-5e11ab18b1f3" providerId="ADAL" clId="{E20CB0E0-1F85-4975-9E8E-778D0DC96092}" dt="2026-09-26T12:38:06.408" v="6" actId="478"/>
          <ac:spMkLst>
            <pc:docMk/>
            <pc:sldMk cId="2242091415" sldId="271"/>
            <ac:spMk id="6" creationId="{64ACE676-AAC1-EA33-CBB1-BE8191CE4F21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7" creationId="{17C8BD00-C579-3545-C663-AD68B5570782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8" creationId="{07D4DB55-EC08-2F13-5C74-AD70EDB0DDBC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9" creationId="{20B9F5CE-D8BB-A859-278D-49A4D712ED9E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0" creationId="{CB7F224B-51D7-C2E6-7246-65995BC32C40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1" creationId="{B0F0BB29-2FB9-42EC-1041-671AE5D018FE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2" creationId="{664EC48F-7528-6659-777E-99FA922A0AB6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3" creationId="{2BFA38D8-05B7-9091-26ED-03E8AC1C9DDF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4" creationId="{4AC9973E-41DC-EF37-1677-4E9AC9F83CC1}"/>
          </ac:spMkLst>
        </pc:spChg>
        <pc:spChg chg="del">
          <ac:chgData name="Andres Olmedo" userId="ba8bdf76-5d03-4303-bcba-5e11ab18b1f3" providerId="ADAL" clId="{E20CB0E0-1F85-4975-9E8E-778D0DC96092}" dt="2026-09-26T12:38:13.302" v="7" actId="478"/>
          <ac:spMkLst>
            <pc:docMk/>
            <pc:sldMk cId="2242091415" sldId="271"/>
            <ac:spMk id="15" creationId="{88C87946-1453-EB82-9429-C980A99D4610}"/>
          </ac:spMkLst>
        </pc:spChg>
      </pc:sldChg>
      <pc:sldMasterChg chg="addSp mod">
        <pc:chgData name="Andres Olmedo" userId="ba8bdf76-5d03-4303-bcba-5e11ab18b1f3" providerId="ADAL" clId="{E20CB0E0-1F85-4975-9E8E-778D0DC96092}" dt="2026-09-26T12:38:00.507" v="2" actId="33475"/>
        <pc:sldMasterMkLst>
          <pc:docMk/>
          <pc:sldMasterMk cId="0" sldId="2147483648"/>
        </pc:sldMasterMkLst>
        <pc:spChg chg="add">
          <ac:chgData name="Andres Olmedo" userId="ba8bdf76-5d03-4303-bcba-5e11ab18b1f3" providerId="ADAL" clId="{E20CB0E0-1F85-4975-9E8E-778D0DC96092}" dt="2026-09-26T12:38:00.507" v="2" actId="33475"/>
          <ac:spMkLst>
            <pc:docMk/>
            <pc:sldMasterMk cId="0" sldId="2147483648"/>
            <ac:spMk id="3" creationId="{57193BD1-609D-09C6-1BE2-BB5A527827CE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9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PlatformVault: la plataforma que centraliza credenciales, certificados, llaves y secretos con control de acceso, cifrado y auditoría. Esta es la iteración 1A de la Fase 1, ya construida y validada.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dolores: dispersión, vencimientos que sorprenden y falta de trazabilidad. La plataforma nace para resolver los tres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central en una frase. Los cuatro pilares se desarrollan en las siguientes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ya funciona en la iteración 1A. Todo se opera desde el sitio Web; la API aplica las reglas de negocio y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recorrido de un acceso. Punto clave: el valor nunca aparece en listados ni en la auditoría; solo se muestra 30 segundos a quien tiene un acceso aprobado y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aprobador se determina por la clasificación del objeto. Los críticos siempre los aprueba Seguridad; los restringidos, otra persona del mismo grupo; los confidenciales, su propietario.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la API habla con la base de datos y con la llave maestra. El sitio Web no tiene cadena de conexión ni acceso a la criptografía: si se viera comprometido, no expone los secretos.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controles visuales del sitio no cuentan como autorización: la API vuelve a autorizar cada acción. Riesgo aceptado temporal RA-01: en la Fase 1 no hay MFA; llega con Entra ID en la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de seguridad forman parte de la suite. La validación en ejecución detectó y corrigió dos defectos antes de esta presentación: el límite de intentos compartido por la IP del servidor Web y los filtros con valores en español.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bloques: la especificación funcional (qué debe hacer), la arquitectura (cómo está organizada), el contrato de la API, la implementación (cómo se interpretó y qué se decidió) y la entrega (cómo instalar, operar y probar).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 negocio (RN) se citan por su identificador en el código y en las pruebas que las verifican; por ejemplo, RN-104 aparece en el glosario, en la regla de dominio y en su prueba. Las desviaciones entre la especificación y la implementación quedaron registradas y aprobadas: 21 hallazgos en el informe de desviaciones y 60 decisiones de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valores son ficticios. Se cargaron por la API, así que respetan las reglas de negocio, quedan cifrados y auditados. Sugerencia de demo: entrar como custodio.maria, luego operador.carla y seguridad.ana.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1B endurece los controles sobre lo ya construido. La Fase 2 integra la identidad corporativa y separa la bóveda cifrada en su propio nodo.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estas cuatro decisiones. La 2 es bloqueante para producción: sin respaldo verificado de la llave maestra, los valores custodiados serían irrecuperables.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DDFC-0EFD-2AE2-CF1E-B9298A1F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DA973-7056-549E-0A39-74B98590B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2CD6E-983A-6136-8FC9-35114F04C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estas cuatro decisiones. La 2 es bloqueante para producción: sin respaldo verificado de la llave maestra, los valores custodiados serían irrecuperables.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97CD0-E7EC-15C1-C196-E7FE97721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193BD1-609D-09C6-1BE2-BB5A527827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887087" y="63500"/>
            <a:ext cx="2443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C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Restricted to ProCreditGroup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8D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FB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GOBIERNO DE CREDENCIALES, CERTIFICADOS Y SECRETOS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564143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PlatformVault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567443"/>
            <a:ext cx="8502650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lugar para custodiar, controlar y auditar los secretos del banco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Fase 1 · Iteración 1A · Presentación de la solución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Los secretos del banco no tienen un dueño claro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3816"/>
            <a:ext cx="3380317" cy="388500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833" y="2259674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1833" y="2742274"/>
            <a:ext cx="285165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Dispersos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21833" y="3143581"/>
            <a:ext cx="2851658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Contraseñas, API Keys, llaves y certificados repartidos en archivos, correos y equipos personales.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42" y="1953816"/>
            <a:ext cx="3380317" cy="388500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9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1700" y="2259674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1700" y="2742274"/>
            <a:ext cx="2851658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Vencimientos por sorpresa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11700" y="3417888"/>
            <a:ext cx="285165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certificado que vence sin aviso detiene un servicio y se descubre cuando ya afecta a clientes.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709" y="1953816"/>
            <a:ext cx="3380317" cy="388500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13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01567" y="2259674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1567" y="2742274"/>
            <a:ext cx="285165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trazabilidad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01567" y="3143581"/>
            <a:ext cx="2851658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sabe quién vio un valor, cuándo ni con qué autorización. Difícil de defender ante una auditoría.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F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3229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9DA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02815"/>
            <a:ext cx="981075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7F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PlatformVault inventaría, cifra y controla cada secreto, y deja rastro de cada acceso.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150" y="4618965"/>
            <a:ext cx="1938139" cy="500327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A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28700" y="4726915"/>
            <a:ext cx="156983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Inventario único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74789" y="4618965"/>
            <a:ext cx="1931789" cy="500327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A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284339" y="4726915"/>
            <a:ext cx="156348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Custodia cifrada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24078" y="4618965"/>
            <a:ext cx="3068175" cy="500327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A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533628" y="4726915"/>
            <a:ext cx="272854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Acceso aprobado y temporal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09753" y="4618965"/>
            <a:ext cx="2328929" cy="500327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A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8919303" y="4726915"/>
            <a:ext cx="196712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Auditoría inalterable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FASE 1 · ITERACIÓN 1A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Seis capacidades en funcionamiento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16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45633" y="2132674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5633" y="2452688"/>
            <a:ext cx="3043513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Certificados, llaves, secretos, credenciales y cuentas de servicio, con criticidad y sensibilidad.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908" y="1903016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618567" y="2132674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Custodia cifrada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8567" y="2452688"/>
            <a:ext cx="3043513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valor se cifra con su propia llave; la llave maestra vive en un certificado local.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42" y="1903016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8191500" y="2132674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y propietarios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1500" y="2452688"/>
            <a:ext cx="30435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quién ve cada objeto y quién responde por él.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534437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1045633" y="3764096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Accesos temporales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5633" y="4084109"/>
            <a:ext cx="30435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Solicitud justificada, aprobación de otra persona y revocación automática.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908" y="3534437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618567" y="3764096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Vencimientos y alertas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8567" y="4084109"/>
            <a:ext cx="3043513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Avisos desde 180 días antes y escalamiento de N1 a N4 si nadie reacciona.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42" y="3534437"/>
            <a:ext cx="3414183" cy="1472671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8191500" y="3764096"/>
            <a:ext cx="304351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Auditoría inalterable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1500" y="4084109"/>
            <a:ext cx="3043513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 de solo inserción con hash encadenado y verificación de integridad.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PROTEGE UN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Nadie ve un secreto sin permiso previo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04616"/>
            <a:ext cx="1742810" cy="192722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20233" y="2208876"/>
            <a:ext cx="1385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0233" y="2511096"/>
            <a:ext cx="138509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Solicita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843808"/>
            <a:ext cx="138509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Justificación, inicio y duración del acceso.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3560" y="2892028"/>
            <a:ext cx="2540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2335" y="2004616"/>
            <a:ext cx="1742877" cy="192722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3226594" y="2208876"/>
            <a:ext cx="1385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26594" y="2511096"/>
            <a:ext cx="13851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Aprueba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26594" y="2843808"/>
            <a:ext cx="1385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Otra persona. Nunca quien lo pide.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9987" y="2892028"/>
            <a:ext cx="2540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28762" y="2004616"/>
            <a:ext cx="1742877" cy="192722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1"/>
          <p:cNvSpPr/>
          <p:nvPr/>
        </p:nvSpPr>
        <p:spPr>
          <a:xfrm>
            <a:off x="5433020" y="2208876"/>
            <a:ext cx="1385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33020" y="2511096"/>
            <a:ext cx="1385160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Acceso temporal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33020" y="3087622"/>
            <a:ext cx="1385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Ventana de 4 u 8 horas que se revoca sola.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6414" y="2892028"/>
            <a:ext cx="2540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35189" y="2004616"/>
            <a:ext cx="1742877" cy="192722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5"/>
          <p:cNvSpPr/>
          <p:nvPr/>
        </p:nvSpPr>
        <p:spPr>
          <a:xfrm>
            <a:off x="7639447" y="2208876"/>
            <a:ext cx="1385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39447" y="2511096"/>
            <a:ext cx="13851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Revela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639447" y="2843808"/>
            <a:ext cx="1385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 su contraseña; el valor se ve 30 segundos.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82840" y="2892028"/>
            <a:ext cx="254000" cy="152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38440" y="2001441"/>
            <a:ext cx="1740760" cy="1933575"/>
          </a:xfrm>
          <a:prstGeom prst="roundRect">
            <a:avLst>
              <a:gd name="adj" fmla="val 583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19"/>
          <p:cNvSpPr/>
          <p:nvPr/>
        </p:nvSpPr>
        <p:spPr>
          <a:xfrm>
            <a:off x="9841640" y="2204641"/>
            <a:ext cx="1385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B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841640" y="2506861"/>
            <a:ext cx="13851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Audita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841640" y="2839576"/>
            <a:ext cx="13851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 inalterable y aviso a su grupo.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2800" y="4341416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el objeto se suspende o el usuario sale del grupo, sus accesos se revocan en el acto.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DE APROBACIÓN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más riesgo, más exigencia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10566400" cy="1774296"/>
          </a:xfrm>
          <a:prstGeom prst="roundRect">
            <a:avLst>
              <a:gd name="adj" fmla="val 57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812800" y="1950641"/>
            <a:ext cx="10566400" cy="1774296"/>
          </a:xfrm>
          <a:custGeom>
            <a:avLst/>
            <a:gdLst/>
            <a:ahLst/>
            <a:cxnLst/>
            <a:rect l="l" t="t" r="r" b="b"/>
            <a:pathLst>
              <a:path w="10566400" h="1774296">
                <a:moveTo>
                  <a:pt x="10464800" y="0"/>
                </a:moveTo>
                <a:lnTo>
                  <a:pt x="10464800" y="0"/>
                </a:lnTo>
                <a:arcTo wR="101600" hR="101600" stAng="16200000" swAng="5400000"/>
                <a:lnTo>
                  <a:pt x="10566400" y="1672696"/>
                </a:lnTo>
                <a:arcTo wR="101600" hR="101600" stAng="0" swAng="5400000"/>
                <a:lnTo>
                  <a:pt x="101600" y="1774296"/>
                </a:lnTo>
                <a:arcTo wR="101600" hR="101600" stAng="5400000" swAng="5400000"/>
                <a:lnTo>
                  <a:pt x="0" y="1672696"/>
                </a:lnTo>
                <a:arcTo wR="101600" hR="95250" stAng="10800000" swAng="-5400000"/>
                <a:lnTo>
                  <a:pt x="10464800" y="1767946"/>
                </a:lnTo>
                <a:arcTo wR="95250" hR="95250" stAng="5400000" swAng="-5400000"/>
                <a:lnTo>
                  <a:pt x="10560050" y="101600"/>
                </a:lnTo>
                <a:arcTo wR="95250" hR="101600" stAng="0" swAng="-5400000"/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812800" y="1950641"/>
            <a:ext cx="10566400" cy="1774296"/>
          </a:xfrm>
          <a:custGeom>
            <a:avLst/>
            <a:gdLst/>
            <a:ahLst/>
            <a:cxnLst/>
            <a:rect l="l" t="t" r="r" b="b"/>
            <a:pathLst>
              <a:path w="10566400" h="1774296">
                <a:moveTo>
                  <a:pt x="101600" y="1774296"/>
                </a:moveTo>
                <a:lnTo>
                  <a:pt x="101600" y="1774296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464800" y="0"/>
                </a:lnTo>
                <a:arcTo wR="101600" hR="101600" stAng="16200000" swAng="5400000"/>
                <a:lnTo>
                  <a:pt x="10566400" y="101600"/>
                </a:lnTo>
                <a:arcTo wR="101600" hR="88900" stAng="0" swAng="-5400000"/>
                <a:lnTo>
                  <a:pt x="101600" y="12700"/>
                </a:lnTo>
                <a:arcTo wR="88900" hR="88900" stAng="16200000" swAng="-5400000"/>
                <a:lnTo>
                  <a:pt x="12700" y="1672696"/>
                </a:lnTo>
                <a:arcTo wR="88900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s-EC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63341"/>
          <a:ext cx="10549467" cy="1757364"/>
        </p:xfrm>
        <a:graphic>
          <a:graphicData uri="http://schemas.openxmlformats.org/drawingml/2006/table">
            <a:tbl>
              <a:tblPr/>
              <a:tblGrid>
                <a:gridCol w="35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 de objeto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Quién aprueba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Acceso máximo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Crítico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Seguridad de la Información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horas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Restringido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 par del mismo grupo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horas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Confidencial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propietario del objeto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horas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080539"/>
            <a:ext cx="533704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autoaprobación.</a:t>
            </a: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Quien pide no puede aprobar, aunque tenga el rol.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7600" y="4080539"/>
            <a:ext cx="533704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Confirmación reciente.</a:t>
            </a: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Aprobar, revelar y descargar exigen la contraseña de los últimos 15 minutos.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Cuatro piezas, cada una con un solo trabajo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89175"/>
            <a:ext cx="2025650" cy="1200150"/>
          </a:xfrm>
          <a:prstGeom prst="roundRect">
            <a:avLst>
              <a:gd name="adj" fmla="val 8201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965200" y="2489200"/>
            <a:ext cx="17790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2844800"/>
            <a:ext cx="177901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secretos ni tokens guardados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60775" y="2289175"/>
            <a:ext cx="2025650" cy="1200150"/>
          </a:xfrm>
          <a:prstGeom prst="roundRect">
            <a:avLst>
              <a:gd name="adj" fmla="val 8201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810000" y="2489200"/>
            <a:ext cx="17790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Sitio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0" y="2844800"/>
            <a:ext cx="177901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ASP.NET MVC y DevExtreme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02400" y="2286000"/>
            <a:ext cx="2032000" cy="120650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654800" y="2489200"/>
            <a:ext cx="17790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4800" y="2844800"/>
            <a:ext cx="177901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.NET 10: reglas, cifrado y auditoría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50375" y="2289175"/>
            <a:ext cx="2025650" cy="1200150"/>
          </a:xfrm>
          <a:prstGeom prst="roundRect">
            <a:avLst>
              <a:gd name="adj" fmla="val 8201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9499600" y="2489200"/>
            <a:ext cx="17790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99600" y="2844800"/>
            <a:ext cx="177901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procedimientos almacenados</a:t>
            </a:r>
            <a:endParaRPr lang="en-US" sz="1200" dirty="0"/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00" y="2838450"/>
            <a:ext cx="914400" cy="101600"/>
          </a:xfrm>
          <a:prstGeom prst="rect">
            <a:avLst/>
          </a:prstGeom>
        </p:spPr>
      </p:pic>
      <p:pic>
        <p:nvPicPr>
          <p:cNvPr id="17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8800" y="2838450"/>
            <a:ext cx="914400" cy="101600"/>
          </a:xfrm>
          <a:prstGeom prst="rect">
            <a:avLst/>
          </a:prstGeom>
        </p:spPr>
      </p:pic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83600" y="2838450"/>
            <a:ext cx="914400" cy="101600"/>
          </a:xfrm>
          <a:prstGeom prst="rect">
            <a:avLst/>
          </a:prstGeom>
        </p:spPr>
      </p:pic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67600" y="3441700"/>
            <a:ext cx="101600" cy="736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08750" y="4133850"/>
            <a:ext cx="201930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1F5FD0"/>
            </a:solidFill>
            <a:prstDash val="dash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5"/>
          <p:cNvSpPr/>
          <p:nvPr/>
        </p:nvSpPr>
        <p:spPr>
          <a:xfrm>
            <a:off x="6654800" y="4292600"/>
            <a:ext cx="177901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Llave maestra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654800" y="4597400"/>
            <a:ext cx="177901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Certificado local no exportable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2800" y="4127500"/>
            <a:ext cx="523240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→ API:</a:t>
            </a: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API Key, red permitida y sesión opaca del usuario.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12800" y="4422115"/>
            <a:ext cx="523240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→ SQL Server:</a:t>
            </a: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una cuenta técnica que solo ejecuta procedimientos.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2800" y="4716729"/>
            <a:ext cx="523240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Despliegue:</a:t>
            </a: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Windows e IIS, sin contenedores ni servicios de nube.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CONTROLES DE 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Seguridad en cada capa, no solo en la pantalla</a:t>
            </a:r>
            <a:endParaRPr lang="en-US" sz="32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 t="-618" b="-618"/>
          <a:stretch/>
        </p:blipFill>
        <p:spPr>
          <a:xfrm>
            <a:off x="812800" y="1899841"/>
            <a:ext cx="219538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9338" y="1899841"/>
            <a:ext cx="5084762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Denegación por defecto; fuera de ámbito, la API responde que no existe</a:t>
            </a:r>
            <a:endParaRPr lang="en-US" sz="14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4"/>
          <a:srcRect l="-225" r="-225"/>
          <a:stretch/>
        </p:blipFill>
        <p:spPr>
          <a:xfrm>
            <a:off x="6096000" y="1899841"/>
            <a:ext cx="236008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9008" y="1899841"/>
            <a:ext cx="506779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Segregación de funciones: nadie se asigna roles ni aprueba lo suyo</a:t>
            </a:r>
            <a:endParaRPr lang="en-US" sz="14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4"/>
          <a:srcRect t="-340" b="-340"/>
          <a:stretch/>
        </p:blipFill>
        <p:spPr>
          <a:xfrm>
            <a:off x="812800" y="2379796"/>
            <a:ext cx="233362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3163" y="2379796"/>
            <a:ext cx="5070523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Cifrado AES-256-GCM con llave por objeto, envuelta con RSA-3072</a:t>
            </a:r>
            <a:endParaRPr lang="en-US" sz="14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0" y="2379796"/>
            <a:ext cx="254000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77000" y="2379796"/>
            <a:ext cx="4509334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cuenta técnica no lee ni escribe tablas directamente</a:t>
            </a:r>
            <a:endParaRPr lang="en-US" sz="14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2859751"/>
            <a:ext cx="254000" cy="254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93800" y="2859751"/>
            <a:ext cx="391380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una acción no se puede auditar, no se ejecuta</a:t>
            </a:r>
            <a:endParaRPr lang="en-US" sz="1400" dirty="0"/>
          </a:p>
        </p:txBody>
      </p:sp>
      <p:pic>
        <p:nvPicPr>
          <p:cNvPr id="14" name="Image 5" descr="Che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0" y="2859751"/>
            <a:ext cx="254000" cy="254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77000" y="2859751"/>
            <a:ext cx="4954906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Sesión de 15 minutos de inactividad y 8 horas como máximo</a:t>
            </a:r>
            <a:endParaRPr lang="en-US" sz="1400" dirty="0"/>
          </a:p>
        </p:txBody>
      </p:sp>
      <p:pic>
        <p:nvPicPr>
          <p:cNvPr id="16" name="Image 6" descr="Check"/>
          <p:cNvPicPr>
            <a:picLocks noChangeAspect="1"/>
          </p:cNvPicPr>
          <p:nvPr/>
        </p:nvPicPr>
        <p:blipFill>
          <a:blip r:embed="rId4"/>
          <a:srcRect t="-184" b="-184"/>
          <a:stretch/>
        </p:blipFill>
        <p:spPr>
          <a:xfrm>
            <a:off x="812800" y="3113751"/>
            <a:ext cx="234090" cy="254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73890" y="3113751"/>
            <a:ext cx="5069773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con CSRF, CSP y cookie cifrada; nada sensible en el navegador</a:t>
            </a:r>
            <a:endParaRPr lang="en-US" sz="1400" dirty="0"/>
          </a:p>
        </p:txBody>
      </p:sp>
      <p:pic>
        <p:nvPicPr>
          <p:cNvPr id="18" name="Image 7" descr="Check"/>
          <p:cNvPicPr>
            <a:picLocks noChangeAspect="1"/>
          </p:cNvPicPr>
          <p:nvPr/>
        </p:nvPicPr>
        <p:blipFill>
          <a:blip r:embed="rId6"/>
          <a:srcRect t="-639" b="-639"/>
          <a:stretch/>
        </p:blipFill>
        <p:spPr>
          <a:xfrm>
            <a:off x="6096000" y="3113751"/>
            <a:ext cx="206904" cy="2540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29904" y="3113751"/>
            <a:ext cx="5097775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Contraseñas de 15 caracteres, bloqueo tras 5 intentos y caducidad a 90 días</a:t>
            </a:r>
            <a:endParaRPr lang="en-US" sz="1400" dirty="0"/>
          </a:p>
        </p:txBody>
      </p:sp>
      <p:sp>
        <p:nvSpPr>
          <p:cNvPr id="20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CALIDAD VERIFICADA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Probado de extremo a extremo, sin fallos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04616"/>
            <a:ext cx="2520950" cy="1976768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71033" y="2259676"/>
            <a:ext cx="207115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033" y="3006396"/>
            <a:ext cx="207115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pruebas automatizadas de dominio, integración, API y Web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5675" y="2004616"/>
            <a:ext cx="2520950" cy="1976768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750733" y="2259676"/>
            <a:ext cx="207115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44/44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50733" y="3006396"/>
            <a:ext cx="207115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escenarios de la API sobre una base recién desplegada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5375" y="2004616"/>
            <a:ext cx="2520950" cy="1976768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430433" y="2259676"/>
            <a:ext cx="207115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20/20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30433" y="3006396"/>
            <a:ext cx="207115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comprobaciones del sitio Web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55075" y="2004616"/>
            <a:ext cx="2520950" cy="1976768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9110134" y="2259676"/>
            <a:ext cx="207115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38/38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10134" y="3006396"/>
            <a:ext cx="207115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validaciones sobre la solución en ejecución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39096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Incluye accesos fuera de ámbito, campos no permitidos, autoaprobación, CSRF y no exposición de valores. Compila sin advertencias.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DOCUMENTAL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Cada decisión tiene un documento que la respalda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2004880" cy="2572610"/>
          </a:xfrm>
          <a:prstGeom prst="roundRect">
            <a:avLst>
              <a:gd name="adj" fmla="val 5068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16000" y="2103041"/>
            <a:ext cx="164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B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specs/functional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05261"/>
            <a:ext cx="16492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Especificación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722761"/>
            <a:ext cx="1649280" cy="157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Visión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Historias de usuario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Glosario del dominio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Requisitos no funcionales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 de trazabilidad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47855" y="1903016"/>
            <a:ext cx="2007063" cy="2566260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152114" y="2107276"/>
            <a:ext cx="1649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2114" y="2409496"/>
            <a:ext cx="16493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Arquitectura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2114" y="2726996"/>
            <a:ext cx="1649346" cy="113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dominio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C4 de contenedores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ADR-001: capas y CQRS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8268" y="1903016"/>
            <a:ext cx="2006997" cy="2566260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292527" y="2107276"/>
            <a:ext cx="164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2527" y="2409496"/>
            <a:ext cx="16492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92527" y="2726996"/>
            <a:ext cx="1649280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OpenAPI v1: 76 rutas y 91 operaciones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8615" y="1903016"/>
            <a:ext cx="2007063" cy="2566260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432873" y="2107276"/>
            <a:ext cx="1649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32873" y="2409496"/>
            <a:ext cx="16493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32873" y="2726996"/>
            <a:ext cx="1649346" cy="909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Informe de desviaciones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Supuestos y decisiones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69028" y="1903016"/>
            <a:ext cx="2006997" cy="2566260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9573287" y="2107276"/>
            <a:ext cx="164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73287" y="2409496"/>
            <a:ext cx="16492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73287" y="2726996"/>
            <a:ext cx="1649280" cy="113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de instalación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de operación</a:t>
            </a:r>
            <a:endParaRPr lang="en-US" sz="1200" dirty="0"/>
          </a:p>
          <a:p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 de pruebas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77725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vive en el repositorio junto al código, en la carpeta </a:t>
            </a:r>
            <a:r>
              <a:rPr lang="en-US" sz="1400" b="1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docs/</a:t>
            </a:r>
            <a:r>
              <a:rPr lang="en-US" sz="14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y se versiona con él.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ESPECIFICACIÓN EN CIFRAS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Trazable desde la visión hasta la prueba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9841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484041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historias de usuario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54400" y="1899841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54400" y="2484041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escenarios en Gherkin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0" y="1899841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96000" y="2484041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7600" y="1899841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737600" y="2484041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términos del dominio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715158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2800" y="3299358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requisitos funcionales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4400" y="2715158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54400" y="3299358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requisitos no funcionales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0" y="2715158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96000" y="3299358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decisiones de negocio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37600" y="2715158"/>
            <a:ext cx="27208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737600" y="3299358"/>
            <a:ext cx="2720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decisiones de implementación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3839505"/>
            <a:ext cx="686528" cy="36572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939800" y="3915705"/>
            <a:ext cx="483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Visión</a:t>
            </a:r>
            <a:endParaRPr lang="en-US" sz="1200" dirty="0"/>
          </a:p>
        </p:txBody>
      </p:sp>
      <p:pic>
        <p:nvPicPr>
          <p:cNvPr id="22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528" y="3965178"/>
            <a:ext cx="203200" cy="1143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858103" y="3838445"/>
            <a:ext cx="887743" cy="367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1"/>
          <p:cNvSpPr/>
          <p:nvPr/>
        </p:nvSpPr>
        <p:spPr>
          <a:xfrm>
            <a:off x="1986161" y="3915703"/>
            <a:ext cx="6824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Historias</a:t>
            </a:r>
            <a:endParaRPr lang="en-US" sz="1200" dirty="0"/>
          </a:p>
        </p:txBody>
      </p:sp>
      <p:pic>
        <p:nvPicPr>
          <p:cNvPr id="25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5221" y="3965178"/>
            <a:ext cx="203200" cy="1143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107796" y="3838445"/>
            <a:ext cx="729192" cy="367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3"/>
          <p:cNvSpPr/>
          <p:nvPr/>
        </p:nvSpPr>
        <p:spPr>
          <a:xfrm>
            <a:off x="3235854" y="3915703"/>
            <a:ext cx="5238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</a:t>
            </a:r>
            <a:endParaRPr lang="en-US" sz="1200" dirty="0"/>
          </a:p>
        </p:txBody>
      </p:sp>
      <p:pic>
        <p:nvPicPr>
          <p:cNvPr id="2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16362" y="3965178"/>
            <a:ext cx="203200" cy="1143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198938" y="3838445"/>
            <a:ext cx="1593784" cy="367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5"/>
          <p:cNvSpPr/>
          <p:nvPr/>
        </p:nvSpPr>
        <p:spPr>
          <a:xfrm>
            <a:off x="4326996" y="3915703"/>
            <a:ext cx="1388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dominio</a:t>
            </a:r>
            <a:endParaRPr lang="en-US" sz="1200" dirty="0"/>
          </a:p>
        </p:txBody>
      </p:sp>
      <p:pic>
        <p:nvPicPr>
          <p:cNvPr id="31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2097" y="3965178"/>
            <a:ext cx="203200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154672" y="3838445"/>
            <a:ext cx="871339" cy="367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27"/>
          <p:cNvSpPr/>
          <p:nvPr/>
        </p:nvSpPr>
        <p:spPr>
          <a:xfrm>
            <a:off x="6282730" y="3915703"/>
            <a:ext cx="666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</a:t>
            </a:r>
            <a:endParaRPr lang="en-US" sz="1200" dirty="0"/>
          </a:p>
        </p:txBody>
      </p:sp>
      <p:pic>
        <p:nvPicPr>
          <p:cNvPr id="34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5386" y="3965178"/>
            <a:ext cx="203200" cy="1143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387961" y="3838445"/>
            <a:ext cx="741098" cy="367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7D0D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29"/>
          <p:cNvSpPr/>
          <p:nvPr/>
        </p:nvSpPr>
        <p:spPr>
          <a:xfrm>
            <a:off x="7516019" y="3915703"/>
            <a:ext cx="5357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</a:t>
            </a:r>
            <a:endParaRPr lang="en-US" sz="1200" dirty="0"/>
          </a:p>
        </p:txBody>
      </p:sp>
      <p:pic>
        <p:nvPicPr>
          <p:cNvPr id="37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08434" y="3965178"/>
            <a:ext cx="203200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487834" y="3839505"/>
            <a:ext cx="837406" cy="365720"/>
          </a:xfrm>
          <a:prstGeom prst="roundRect">
            <a:avLst>
              <a:gd name="adj" fmla="val 50000"/>
            </a:avLst>
          </a:prstGeom>
          <a:solidFill>
            <a:srgbClr val="1F5FD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Text 31"/>
          <p:cNvSpPr/>
          <p:nvPr/>
        </p:nvSpPr>
        <p:spPr>
          <a:xfrm>
            <a:off x="8614834" y="3915705"/>
            <a:ext cx="634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B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AMBIENTE DE DEMOSTRACIÓN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7F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Listo para recorrer con datos realistas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01441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228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2722761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objetos de los cinco tipos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34933" y="2001441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34933" y="2722761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de todos los roles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57067" y="2001441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857067" y="2722761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en 8 áreas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971670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12800" y="3692990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solicitudes en todos sus estados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34933" y="2971670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334933" y="3692990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alertas de vencimiento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57067" y="2971670"/>
            <a:ext cx="362779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8FB5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+1.500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857067" y="3692990"/>
            <a:ext cx="36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eventos de auditoría íntegros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sintéticos cargados a través de la API, con las mismas reglas que el uso real · PlatformVault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 la base construida a la plataforma completa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3375356" cy="2421136"/>
          </a:xfrm>
          <a:prstGeom prst="roundRect">
            <a:avLst>
              <a:gd name="adj" fmla="val 419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66800" y="2153841"/>
            <a:ext cx="295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B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HECHO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68761"/>
            <a:ext cx="295337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Iteración 1A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2844670"/>
            <a:ext cx="2953376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Inventario y custodia cifrada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y propietarios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Solicitudes y accesos temporales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Vencimientos y alertas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Auditoría y tablero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706" y="1906191"/>
            <a:ext cx="3388122" cy="2408436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2700">
            <a:solidFill>
              <a:srgbClr val="1F5FD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658056" y="2166541"/>
            <a:ext cx="2953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SIGUIENTE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58056" y="2481461"/>
            <a:ext cx="2953445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Iteración 1B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8056" y="2857370"/>
            <a:ext cx="2953445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Llave dividida y custodios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personales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Reportes y exportaciones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Rotación de la llave maestra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ojos en roles privilegiados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8553" y="1903016"/>
            <a:ext cx="3377473" cy="2414786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8253611" y="2158076"/>
            <a:ext cx="295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DESPUÉS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3611" y="2472996"/>
            <a:ext cx="295337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3611" y="2848905"/>
            <a:ext cx="2953376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 con MFA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Directory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Cuentas de emergencia</a:t>
            </a:r>
            <a:endParaRPr lang="en-US" sz="1300" dirty="0"/>
          </a:p>
          <a:p>
            <a:pPr marL="198120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E4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Bóveda cifrada separada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CONTINUAR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Cuatro decisiones que necesitamos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16"/>
            <a:ext cx="10560050" cy="855530"/>
          </a:xfrm>
          <a:prstGeom prst="roundRect">
            <a:avLst>
              <a:gd name="adj" fmla="val 11505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071033" y="2081876"/>
            <a:ext cx="4572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80633" y="2202197"/>
            <a:ext cx="510438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Aprobar el inicio de la iteración 1B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su alcance actual.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2891898"/>
            <a:ext cx="10560050" cy="855530"/>
          </a:xfrm>
          <a:prstGeom prst="roundRect">
            <a:avLst>
              <a:gd name="adj" fmla="val 11505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1071033" y="3070758"/>
            <a:ext cx="4572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80633" y="3191073"/>
            <a:ext cx="691957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la custodia dual del respaldo de la llave maestra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antes de producción.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880780"/>
            <a:ext cx="10560050" cy="855530"/>
          </a:xfrm>
          <a:prstGeom prst="roundRect">
            <a:avLst>
              <a:gd name="adj" fmla="val 11505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1071033" y="4059634"/>
            <a:ext cx="4572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80633" y="4179956"/>
            <a:ext cx="803868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Ratificar el riesgo temporal RA-01: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 MFA hasta la Fase 2, con controles compensatorios.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75" y="4869656"/>
            <a:ext cx="10560050" cy="855530"/>
          </a:xfrm>
          <a:prstGeom prst="roundRect">
            <a:avLst>
              <a:gd name="adj" fmla="val 11505"/>
            </a:avLst>
          </a:prstGeom>
          <a:solidFill>
            <a:srgbClr val="FFFFFF"/>
          </a:solidFill>
          <a:ln w="6350">
            <a:solidFill>
              <a:srgbClr val="D3DA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1071033" y="5048517"/>
            <a:ext cx="4572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80633" y="5168838"/>
            <a:ext cx="617975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Preparar el ambiente de QA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 IIS con la base de datos cifrada (TDE).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568B0-67CA-BA2E-9F00-7B36DB4A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BE8FF6-93D7-2CE2-9F50-436CDDC6C59F}"/>
              </a:ext>
            </a:extLst>
          </p:cNvPr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F5FD0"/>
                </a:solidFill>
                <a:latin typeface="IBM Plex Sans" pitchFamily="34" charset="0"/>
              </a:rPr>
              <a:t>FIN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B27DBF-848C-99DC-0408-4A3C8C5D6939}"/>
              </a:ext>
            </a:extLst>
          </p:cNvPr>
          <p:cNvSpPr/>
          <p:nvPr/>
        </p:nvSpPr>
        <p:spPr>
          <a:xfrm>
            <a:off x="3581880" y="3182640"/>
            <a:ext cx="4639094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7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</a:rPr>
              <a:t>GRACIAS</a:t>
            </a:r>
            <a:endParaRPr lang="en-US" sz="7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C300977-B506-CBA6-FCE5-5A1B01ED1ECC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PlatformVault · 14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209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a7af428-4bfb-4aad-a33e-7ec74c482b37}" enabled="1" method="Standard" siteId="{22beeaa2-4ba0-4c6c-83a2-5e0a512df8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1586</Words>
  <Application>Microsoft Office PowerPoint</Application>
  <PresentationFormat>Panorámica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IBM Plex Sans</vt:lpstr>
      <vt:lpstr>Source Serif 4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PlatformVault · Presentación de la solución</dc:title>
  <dc:subject>PptxGenJS Presentation</dc:subject>
  <dc:creator>PptxGenJS</dc:creator>
  <cp:lastModifiedBy>Andres Olmedo</cp:lastModifiedBy>
  <cp:revision>1</cp:revision>
  <dcterms:created xsi:type="dcterms:W3CDTF">2026-09-26T12:34:45Z</dcterms:created>
  <dcterms:modified xsi:type="dcterms:W3CDTF">2026-09-26T12:39:03Z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Classification: Restricted to ProCreditGroup</vt:lpwstr>
  </property>
</Properties>
</file>